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f79cc589d4e46" /><Relationship Type="http://schemas.openxmlformats.org/officeDocument/2006/relationships/extended-properties" Target="/docProps/app.xml" Id="Rb940afce2d954519" /><Relationship Type="http://schemas.openxmlformats.org/officeDocument/2006/relationships/officeDocument" Target="/ppt/presentation.xml" Id="Rdb32e87e1dc8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d9f14d1ccc4897"/>
  </p:sldMasterIdLst>
  <p:notesMasterIdLst>
    <p:notesMasterId xmlns:r="http://schemas.openxmlformats.org/officeDocument/2006/relationships" r:id="R65efc4a5eed9441e"/>
  </p:notesMasterIdLst>
  <p:sldIdLst>
    <p:sldId xmlns:r="http://schemas.openxmlformats.org/officeDocument/2006/relationships" id="256" r:id="R88318a913d8f47e5"/>
    <p:sldId xmlns:r="http://schemas.openxmlformats.org/officeDocument/2006/relationships" id="257" r:id="R3cbb7d94d88148d8"/>
    <p:sldId xmlns:r="http://schemas.openxmlformats.org/officeDocument/2006/relationships" id="258" r:id="R6e6a3a97f30b43f6"/>
    <p:sldId xmlns:r="http://schemas.openxmlformats.org/officeDocument/2006/relationships" id="259" r:id="Rac51b9852b324197"/>
    <p:sldId xmlns:r="http://schemas.openxmlformats.org/officeDocument/2006/relationships" id="260" r:id="Rcfcc57e9cb654df0"/>
    <p:sldId xmlns:r="http://schemas.openxmlformats.org/officeDocument/2006/relationships" id="261" r:id="R6210690c88874dc3"/>
    <p:sldId xmlns:r="http://schemas.openxmlformats.org/officeDocument/2006/relationships" id="262" r:id="R529389cd552e4509"/>
    <p:sldId xmlns:r="http://schemas.openxmlformats.org/officeDocument/2006/relationships" id="263" r:id="Rcc1acc3d1d564751"/>
    <p:sldId xmlns:r="http://schemas.openxmlformats.org/officeDocument/2006/relationships" id="264" r:id="R41a1b1b2bcf048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e69a4b6214524" /><Relationship Type="http://schemas.openxmlformats.org/officeDocument/2006/relationships/slideMaster" Target="/ppt/slideMasters/slideMaster1.xml" Id="Rb5d9f14d1ccc4897" /><Relationship Type="http://schemas.openxmlformats.org/officeDocument/2006/relationships/notesMaster" Target="/ppt/notesMasters/notesMaster1.xml" Id="R65efc4a5eed9441e" /><Relationship Type="http://schemas.openxmlformats.org/officeDocument/2006/relationships/presProps" Target="/ppt/presProps.xml" Id="R932b18f14a88487c" /><Relationship Type="http://schemas.openxmlformats.org/officeDocument/2006/relationships/tableStyles" Target="/ppt/tableStyles.xml" Id="R4b6058667d4f4855" /><Relationship Type="http://schemas.openxmlformats.org/officeDocument/2006/relationships/slide" Target="/ppt/slides/slide1.xml" Id="R88318a913d8f47e5" /><Relationship Type="http://schemas.openxmlformats.org/officeDocument/2006/relationships/slide" Target="/ppt/slides/slide2.xml" Id="R3cbb7d94d88148d8" /><Relationship Type="http://schemas.openxmlformats.org/officeDocument/2006/relationships/slide" Target="/ppt/slides/slide3.xml" Id="R6e6a3a97f30b43f6" /><Relationship Type="http://schemas.openxmlformats.org/officeDocument/2006/relationships/slide" Target="/ppt/slides/slide4.xml" Id="Rac51b9852b324197" /><Relationship Type="http://schemas.openxmlformats.org/officeDocument/2006/relationships/slide" Target="/ppt/slides/slide5.xml" Id="Rcfcc57e9cb654df0" /><Relationship Type="http://schemas.openxmlformats.org/officeDocument/2006/relationships/slide" Target="/ppt/slides/slide6.xml" Id="R6210690c88874dc3" /><Relationship Type="http://schemas.openxmlformats.org/officeDocument/2006/relationships/slide" Target="/ppt/slides/slide7.xml" Id="R529389cd552e4509" /><Relationship Type="http://schemas.openxmlformats.org/officeDocument/2006/relationships/slide" Target="/ppt/slides/slide8.xml" Id="Rcc1acc3d1d564751" /><Relationship Type="http://schemas.openxmlformats.org/officeDocument/2006/relationships/slide" Target="/ppt/slides/slide9.xml" Id="R41a1b1b2bcf048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e35fcd720d4a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6bbe20cc46474f" /><Relationship Type="http://schemas.openxmlformats.org/officeDocument/2006/relationships/notesMaster" Target="/ppt/notesMasters/notesMaster1.xml" Id="R9df4b32040ce49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1214408fe4be1" /><Relationship Type="http://schemas.openxmlformats.org/officeDocument/2006/relationships/notesMaster" Target="/ppt/notesMasters/notesMaster1.xml" Id="R44ebc6e2534c43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68232d7bb142e3" /><Relationship Type="http://schemas.openxmlformats.org/officeDocument/2006/relationships/notesMaster" Target="/ppt/notesMasters/notesMaster1.xml" Id="R3f5f3dd006e1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a4a7850cdc43ff" /><Relationship Type="http://schemas.openxmlformats.org/officeDocument/2006/relationships/notesMaster" Target="/ppt/notesMasters/notesMaster1.xml" Id="R53d52a8d618e4d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6a25c6156b4476" /><Relationship Type="http://schemas.openxmlformats.org/officeDocument/2006/relationships/notesMaster" Target="/ppt/notesMasters/notesMaster1.xml" Id="R4f4b53db18eb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16fa1fcd524150" /><Relationship Type="http://schemas.openxmlformats.org/officeDocument/2006/relationships/notesMaster" Target="/ppt/notesMasters/notesMaster1.xml" Id="R9f8a3d96851a48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3429a80ddc405e" /><Relationship Type="http://schemas.openxmlformats.org/officeDocument/2006/relationships/notesMaster" Target="/ppt/notesMasters/notesMaster1.xml" Id="Rf78cafeaa8c444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0a66492cd4f50" /><Relationship Type="http://schemas.openxmlformats.org/officeDocument/2006/relationships/notesMaster" Target="/ppt/notesMasters/notesMaster1.xml" Id="R152d9892985c4f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f2454399d84b7a" /><Relationship Type="http://schemas.openxmlformats.org/officeDocument/2006/relationships/notesMaster" Target="/ppt/notesMasters/notesMaster1.xml" Id="R79a529198efa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模型接入参考：https://cloud.tencent.com/document/product/1729/111007 和 https://intl.cloud.tencent.com/zh/document/product/1300/80632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内容来源：项目需求说明与 README。虚拟产品场景，不代表真实客户数据。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来源：docs/system_architecture.svg 和 docs/架构说明.md。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指标来源：reports/metrics.json。语料全部为自行编写的虚拟产品资料。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来源：app/workflow.py 和 app/triage.py。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来源：app/tools.py、app/repository.py 和 API 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来源：app/security.py、app/llm.py、app/repository.py。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数据来源：data/evaluation_cases.json 和 reports/metrics.json。图表为可编辑原生图表。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来源：README、测试报告和项目复盘。所有结果均来自当前仓库实现。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dec9edaae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ce0291b4bc42af" /><Relationship Type="http://schemas.openxmlformats.org/officeDocument/2006/relationships/slideLayout" Target="/ppt/slideLayouts/slideLayout1.xml" Id="Rb6374d77cc734c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374d77cc734c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3212e1b34170" /><Relationship Type="http://schemas.openxmlformats.org/officeDocument/2006/relationships/notesSlide" Target="/ppt/notesSlides/notesSlide1.xml" Id="R4207c01fd090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9c277e4d24720" /><Relationship Type="http://schemas.openxmlformats.org/officeDocument/2006/relationships/notesSlide" Target="/ppt/notesSlides/notesSlide2.xml" Id="Rce5d7cb52b954b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b0c98aa74916" /><Relationship Type="http://schemas.openxmlformats.org/officeDocument/2006/relationships/notesSlide" Target="/ppt/notesSlides/notesSlide3.xml" Id="R3be112edc65f48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0744119da4437" /><Relationship Type="http://schemas.openxmlformats.org/officeDocument/2006/relationships/notesSlide" Target="/ppt/notesSlides/notesSlide4.xml" Id="R5a28c7816369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e343256f74927" /><Relationship Type="http://schemas.openxmlformats.org/officeDocument/2006/relationships/notesSlide" Target="/ppt/notesSlides/notesSlide5.xml" Id="R86b7982953c245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45bd50e1b40eb" /><Relationship Type="http://schemas.openxmlformats.org/officeDocument/2006/relationships/notesSlide" Target="/ppt/notesSlides/notesSlide6.xml" Id="R66995653cd0143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9359f371141de" /><Relationship Type="http://schemas.openxmlformats.org/officeDocument/2006/relationships/notesSlide" Target="/ppt/notesSlides/notesSlide7.xml" Id="R50be9a1bef5b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044e9bba74359" /><Relationship Type="http://schemas.openxmlformats.org/officeDocument/2006/relationships/chart" Target="/ppt/slides/charts/chart1.xml" Id="R9eba50c9280b4eb3" /><Relationship Type="http://schemas.openxmlformats.org/officeDocument/2006/relationships/notesSlide" Target="/ppt/notesSlides/notesSlide8.xml" Id="R3e3c51abb8df47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4b0be33eb4c35" /><Relationship Type="http://schemas.openxmlformats.org/officeDocument/2006/relationships/notesSlide" Target="/ppt/notesSlides/notesSlide9.xml" Id="R5cd458eda2a749f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准确率</c:v>
          </c:tx>
          <c:spPr>
            <a:solidFill xmlns:a="http://schemas.openxmlformats.org/drawingml/2006/main">
              <a:srgbClr val="69D2E7"/>
            </a:solidFill>
          </c:spPr>
          <c:cat>
            <c:strRef>
              <c:f>'Chart Data'!$A$2:$A$6</c:f>
              <c:strCache>
                <c:ptCount val="5"/>
                <c:pt idx="0">
                  <c:v>意图分类</c:v>
                </c:pt>
                <c:pt idx="1">
                  <c:v>Recall@3</c:v>
                </c:pt>
                <c:pt idx="2">
                  <c:v>工具选择</c:v>
                </c:pt>
                <c:pt idx="3">
                  <c:v>升级判断</c:v>
                </c:pt>
                <c:pt idx="4">
                  <c:v>脱敏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5F8F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2A43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2A43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E7E9E-B02A-4D85-81E2-B52B6C59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企业云产品智能支持与工单协同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2F60-B1FB-429F-AB6D-B538C97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从知识问答到人工工单的可控闭环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05A2F-AD07-4CFE-888A-696237E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Python  FastAPI  RAG  LangGraph  SQLite  腾讯混元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82F0C-BFF3-4089-9324-1DF001E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求职项目汇报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A493F-6402-4938-804A-5FDABA61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0874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FA74D-BEFE-4CD3-950E-0D90ADF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业务背景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FBF53-1FB0-4855-A100-9EFA3E5E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企业技术支持的断点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09A5-1D65-4FCE-87CA-B227F69D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6B683-43BD-44C2-AD26-D2DAF7B6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用户通常只说“接口不能用了”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37B1B-4DB0-4A44-8324-1E7A7E2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错误码、Request ID、发生时间和影响范围经常缺失。支持人员需要在文档、账户信息和工单系统之间切换。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2AAB4-82FB-47F3-ACEC-4624F17F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057BB-71E1-4DB0-B666-2DB454EA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信息不完整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4D953-58B4-472D-B98B-4F13B0A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反复追问，定位速度慢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77A6F-17FA-4749-9027-0951C96E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8DD64-695B-4B7D-9A0F-2ED2EC9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知识难复用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E5F44-F5FB-407F-9C7C-6FD06C7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答案缺少来源，经验散落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4BB31-B9AA-4E40-8A2F-2A41749E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F064C-59C3-4BE4-8103-DF73EC1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转交不连续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027E7-A5BE-4D46-B961-A050B612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人工接管时缺少上下文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03BA4-9C84-4859-88E9-0E17080E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目标：把问答、诊断和人工协同放进同一条可审计流程</a:t>
            </a:r>
          </a:p>
        </p:txBody>
      </p:sp>
    </p:spTree>
    <p:extLst>
      <p:ext uri="{BB962C8B-B14F-4D97-AF65-F5344CB8AC3E}">
        <p14:creationId xmlns:p14="http://schemas.microsoft.com/office/powerpoint/2010/main" val="1717829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23E9C6-C670-4BD9-939B-4C7CF9D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543BA-EFCD-4B89-835B-2D688F1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系统架构与职责边界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1681E-4DD0-4758-9A00-2426F075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53CF8-2697-4008-AADB-43814637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2829E-A23A-45D8-83D8-B5456125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Streamlit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58293-CAFC-4B35-953C-7C7298E3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用户支持与工程师工作台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FFD5B-80A1-42C5-BA4D-D35D41AB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905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8CC1-60C2-4DED-A867-A6D7CBE5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A8BE-8723-4DE2-8C4C-634DDBD1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9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接口与结构校验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23592-D579-4FC6-B577-45720FE1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2381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23F55"/>
          </a:solidFill>
          <a:ln xmlns:a="http://schemas.openxmlformats.org/drawingml/2006/main" w="23813">
            <a:solidFill>
              <a:srgbClr val="69D2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2CC-BDAC-41C3-951D-5AF5A18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431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Agent 工作流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767FF-8B77-4202-8F0E-C7018800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669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追问、检索、工具、升级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C7284-B363-4B47-92CC-9AEE1F76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095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897A7-628C-4050-9E76-252A866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192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9BF76-4624-4927-A188-8955D779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带来源的知识依据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AECE8-86C7-4938-AA94-AFC8456B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095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C6F5E-254D-42D0-A647-442BF060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诊断工具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BE1B0-368D-464C-BD39-F5CEB7D5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337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错误码、额度、服务状态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616BD-5CA6-4B1B-A118-453D365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095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A3E0A-60F4-4E9B-AFAB-35F3EF14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工单状态机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40E3E-85D0-4A4A-AF6D-D97CD861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分派、解决、关闭</a:t>
            </a:r>
          </a:p>
        </p:txBody>
      </p:sp>
      <p:cxnSp>
        <p:nvCxnSpPr>
          <p:cNvPr id="55" name=""/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667000" y="2628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143500" y="2628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3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96250" y="1943100"/>
            <a:ext cx="7620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6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8096250" y="2628900"/>
            <a:ext cx="762000" cy="504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8096250" y="2628900"/>
            <a:ext cx="76200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BDA6B-71FA-4A20-9E49-66A77B3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879EC-77D7-41DE-8755-0C257F1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理解和表达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60F87-428B-47B8-9973-0E0636E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672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3D6B5-6BAD-4556-AB4D-F841B973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91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返回确定性结果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A1D49-68A6-4E8E-B340-F985367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C0781-FE3E-4178-AEB3-C01FE6A4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约束业务流转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A815D-EA4B-4867-AAAE-8B2976C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边界清楚，才能解释、测试和审计</a:t>
            </a:r>
          </a:p>
        </p:txBody>
      </p:sp>
    </p:spTree>
    <p:extLst>
      <p:ext uri="{BB962C8B-B14F-4D97-AF65-F5344CB8AC3E}">
        <p14:creationId xmlns:p14="http://schemas.microsoft.com/office/powerpoint/2010/main" val="2021993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1E635-DC12-498E-AB0A-C632B969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E28CD-89B3-46B8-882D-1E6C7C9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知识检索与引用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99050-1E9B-4EF4-A468-6E58A6B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892E7-72C6-40B8-A604-1EF8BA8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238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9186D-F93A-4D1C-AA49-A379AA2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17 篇文档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2A88-9BDD-4685-953E-B60976A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产品说明、API、错误码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CDD3C-E56A-4F9F-88D5-43C93D53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238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5E87-A5FA-49CF-BCA8-B7B636E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47875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切分与元数据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956B3-BBBD-4828-996C-190BF0E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717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标题、类别、来源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ECA84-44F3-4607-BB05-9894A0C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238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23F55"/>
          </a:solidFill>
          <a:ln xmlns:a="http://schemas.openxmlformats.org/drawingml/2006/main" w="23813">
            <a:solidFill>
              <a:srgbClr val="69D2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2358E-4C01-47B6-AC3C-7C806326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11D78-0D59-4408-9D49-B7E9DEBD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n-gram 与错误码精确匹配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FD94F-4AB8-4BCA-B06E-D5B7169E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52625"/>
            <a:ext cx="2238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8D507-79B6-4FCF-B88C-338052A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47875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带引用回答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5BEEE-82CA-42DE-8EBA-DCEEBC12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717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无依据时拒答</a:t>
            </a:r>
          </a:p>
        </p:txBody>
      </p:sp>
      <p:cxnSp>
        <p:nvCxnSpPr>
          <p:cNvPr id="39" name=""/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828925" y="2428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686425" y="2428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3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543925" y="2428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A1311-1B26-48F7-B098-23C7284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检索失败要区分三种原因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66482-5138-4BE7-BE74-E7F4E38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10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语料没有答案</a:t>
            </a:r>
          </a:p>
          <a:p xmlns:a="http://schemas.openxmlformats.org/drawingml/2006/main">
            <a:pPr marL="203200" indent="-101600">
              <a:spcAft>
                <a:spcPts val="10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切分破坏上下文</a:t>
            </a:r>
          </a:p>
          <a:p xmlns:a="http://schemas.openxmlformats.org/drawingml/2006/main">
            <a:pPr marL="203200" indent="-101600">
              <a:spcAft>
                <a:spcPts val="10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查询表达与文档差异过大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313BF-B2C5-493E-ABFA-47D8221D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Recall@3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372C3-5121-40B3-8909-29DD138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7CB62-C2D1-49E3-9792-A756AB84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固定测试集中的正确文档进入前三条</a:t>
            </a:r>
          </a:p>
        </p:txBody>
      </p:sp>
    </p:spTree>
    <p:extLst>
      <p:ext uri="{BB962C8B-B14F-4D97-AF65-F5344CB8AC3E}">
        <p14:creationId xmlns:p14="http://schemas.microsoft.com/office/powerpoint/2010/main" val="1719081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C3C84-36F7-4A41-97DA-01BE26E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96856-298C-484B-AF43-20C06B9A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Agent 决策流程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B57B3-08BB-467E-81F6-8C3E0CD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C3A23-82BD-4A88-B22D-95945EEC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80231-74FF-4674-B6E0-9151F119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输入脱敏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1B4D-4A25-42DB-8B2C-3E5CCBBF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密钥、手机号、邮箱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8D67-2C8E-4726-8C86-6582905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8D6BB-61D4-430D-B070-077F9217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意图分诊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2DEA3-092C-43AF-90EA-55B571A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六类问题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95987-558B-4149-87A6-EC280CD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2047875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23F55"/>
          </a:solidFill>
          <a:ln xmlns:a="http://schemas.openxmlformats.org/drawingml/2006/main" w="23813">
            <a:solidFill>
              <a:srgbClr val="69D2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4EAA4-908A-43DD-9D6B-B738964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1819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信息完整？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E8219-8D60-426D-876C-23D5125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66975"/>
            <a:ext cx="1819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错误码、时间、影响范围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11F20-DD57-49E2-A8BA-1142CE8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1809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88369-6B20-4A40-813E-20F6317E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24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81B86-43A7-4639-9A8F-50038AB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47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停止猜测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FB92C-3684-4E78-BA75-63C24C43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809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05EC5-9FE3-47DC-8A23-5B94E333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575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检索与工具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61AFE-A3E1-42B5-9FCC-EFEF4EEE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81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形成诊断依据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65514-9AB4-4FFA-8018-4AE22F5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95750"/>
            <a:ext cx="1809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14C"/>
          </a:solidFill>
          <a:ln xmlns:a="http://schemas.openxmlformats.org/drawingml/2006/main" w="14288">
            <a:solidFill>
              <a:srgbClr val="3157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3F1AC-D842-4600-89CE-308B1874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91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人工升级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63FA8-ED0E-4A8B-A095-DDACF58A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14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生成结构化工单</a:t>
            </a:r>
          </a:p>
        </p:txBody>
      </p:sp>
      <p:cxnSp>
        <p:nvCxnSpPr>
          <p:cNvPr id="54" name=""/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381250" y="2628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667250" y="2628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3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191375" y="1847850"/>
            <a:ext cx="857250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6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7191375" y="2628900"/>
            <a:ext cx="857250" cy="55245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7191375" y="2628900"/>
            <a:ext cx="857250" cy="188595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69D2E7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6775FC-3B79-4043-96E4-E2EA790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缺信息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4027C-433E-466E-B01B-EDE39CA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384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有依据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4F728-AF16-413F-A378-EEFEF56D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719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B056F-76C7-4799-B1E0-BA8F15B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526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升级规则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1F328E-10E4-48E5-8EAC-54FFB024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43125"/>
            <a:ext cx="1619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没有可靠依据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两次方案无效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安全事件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生产大面积异常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用户要求人工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426AAE-4A6A-4D52-9411-5CD9B81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核心逻辑可脱离 LangGraph 单独测试</a:t>
            </a:r>
          </a:p>
        </p:txBody>
      </p:sp>
    </p:spTree>
    <p:extLst>
      <p:ext uri="{BB962C8B-B14F-4D97-AF65-F5344CB8AC3E}">
        <p14:creationId xmlns:p14="http://schemas.microsoft.com/office/powerpoint/2010/main" val="8528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82FE9-D391-4E34-9976-24EC9180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人机协同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CB446-2BEA-45FA-BD81-4CA19DF0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工具调用与工单闭环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9EB67-C66C-4AFE-B794-2F87FE01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04850" y="1714500"/>
          <a:ext xmlns:a="http://schemas.openxmlformats.org/drawingml/2006/main" cx="50482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2809875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714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91440" marR="91440" marT="45720" marB="45720">
                    <a:solidFill>
                      <a:srgbClr val="69D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714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返回结果</a:t>
                      </a:r>
                    </a:p>
                  </a:txBody>
                  <a:tcPr marL="91440" marR="91440" marT="45720" marB="45720">
                    <a:solidFill>
                      <a:srgbClr val="69D2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query_service_status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模拟服务状态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query_account_quota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模拟账户额度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query_error_code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错误码说明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create_ticket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结构化工单编号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query_ticket_status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工单状态与负责人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1E13-FFAE-497C-A63C-DFE7A69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工单状态机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1E05B-985F-4A26-81EC-37A9A9C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NEW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0E0E5-0060-4848-AB42-07E0F62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050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BAE03-0B00-4D7D-A1DE-45FBCF4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NEED_INFO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71137-A102-4069-B4A3-4FEDBF0F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003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1502B-AA39-46C6-94E9-9B3E95C3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AI_PROCESSING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136F9-502B-4C03-B6E2-915D9858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956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40401-4E96-41F6-AE76-11DA7EF1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909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HUMAN_PROCESSING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12408-1B37-4BD2-BAEA-37F829F6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90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28C92-89D4-4DBF-B124-C094E0D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86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RESOLVED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A69A3-AD72-421F-A329-EE321813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862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7F91F-28C2-4F7A-8ABB-BB12BF5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815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470BD-3AC1-49BA-B945-7333E766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非法跳转返回 409，解决方案确认后才进入候选知识区</a:t>
            </a:r>
          </a:p>
        </p:txBody>
      </p:sp>
    </p:spTree>
    <p:extLst>
      <p:ext uri="{BB962C8B-B14F-4D97-AF65-F5344CB8AC3E}">
        <p14:creationId xmlns:p14="http://schemas.microsoft.com/office/powerpoint/2010/main" val="1697329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71E27-8FD4-4827-B2BD-9672E467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工程能力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02557-795E-4376-8837-178FA57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安全、可靠性与降级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E608B-DAF4-4FCB-8BE9-15A737D1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5429250"/>
                <a:gridCol w="3295650"/>
              </a:tblGrid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714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91440" marR="91440" marT="45720" marB="45720">
                    <a:solidFill>
                      <a:srgbClr val="69D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714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控制措施</a:t>
                      </a:r>
                    </a:p>
                  </a:txBody>
                  <a:tcPr marL="91440" marR="91440" marT="45720" marB="45720">
                    <a:solidFill>
                      <a:srgbClr val="69D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714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失败时行为</a:t>
                      </a:r>
                    </a:p>
                  </a:txBody>
                  <a:tcPr marL="91440" marR="91440" marT="45720" marB="45720">
                    <a:solidFill>
                      <a:srgbClr val="69D2E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敏感数据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模型调用前遮盖密钥、手机号和邮箱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安全事件直接升级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Injection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拦截绕过规则和索取系统提示的输入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返回安全说明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模型不可用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真实接口失败后切换 Mock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核心流程仍可演示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无知识依据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拒绝补全未知事实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创建人工工单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状态流转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后端校验每次状态变化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8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保留操作人和时间线</a:t>
                      </a:r>
                    </a:p>
                  </a:txBody>
                  <a:tcPr marL="91440" marR="91440" marT="45720" marB="45720">
                    <a:solidFill>
                      <a:srgbClr val="15314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2E4C4-AF3D-4E47-94A8-D62E233F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演示稳定性和安全边界都由代码保障</a:t>
            </a:r>
          </a:p>
        </p:txBody>
      </p:sp>
    </p:spTree>
    <p:extLst>
      <p:ext uri="{BB962C8B-B14F-4D97-AF65-F5344CB8AC3E}">
        <p14:creationId xmlns:p14="http://schemas.microsoft.com/office/powerpoint/2010/main" val="1282701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58E0E-DA9B-45A7-A429-BC4FC874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ED4D-4000-4030-B69A-824C18C5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42 条固定样例的自动评测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BE56D-2C8C-4196-93CB-E0F3476F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ba50c9280b4eb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65112-7DAA-4D30-ACAE-66A63063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测试边界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36076-DBDD-4D5B-AA5C-EE1C36AC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238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小规模虚拟产品语料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本地延迟不含混元网络耗时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自然语言答案仍需人工抽检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指标可由脚本重复生成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E1625-5212-4C08-AAC6-882274A9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本地平均处理 0.32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24CC1-C7AD-491E-B88D-10863CD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DCF"/>
                </a:solidFill>
                <a:latin typeface="Microsoft YaHei"/>
                <a:ea typeface="Microsoft YaHei"/>
                <a:cs typeface="Microsoft YaHei"/>
              </a:rPr>
              <a:t>只统计分类、检索与工具选择</a:t>
            </a:r>
          </a:p>
        </p:txBody>
      </p:sp>
    </p:spTree>
    <p:extLst>
      <p:ext uri="{BB962C8B-B14F-4D97-AF65-F5344CB8AC3E}">
        <p14:creationId xmlns:p14="http://schemas.microsoft.com/office/powerpoint/2010/main" val="1148546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D782F-9EAD-4148-B41F-880BA9D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A05A0-B44A-41AC-8866-3BABC1E5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项目成果与后续演进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22031-1BBD-4FB8-BD45-A3A00328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B9AF3-8A00-450E-B385-94AB6E58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14077-6ABD-4776-B10F-72819A66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问答、追问、工具和人工升级闭环</a:t>
            </a:r>
          </a:p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FastAPI、Streamlit 和 SQLite 可运行 Demo</a:t>
            </a:r>
          </a:p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42 条样例、自动指标和失败记录</a:t>
            </a:r>
          </a:p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架构图、两页方案、报告、PPT 和视频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AE7FF-F348-4730-933A-61B5751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9D2E7"/>
                </a:solidFill>
                <a:latin typeface="Microsoft YaHei"/>
                <a:ea typeface="Microsoft YaHei"/>
                <a:cs typeface="Microsoft YaHei"/>
              </a:rPr>
              <a:t>仍有边界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548F9-B19D-4A3F-8A2C-02941108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业务工具和账户数据为模拟数据</a:t>
            </a:r>
          </a:p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尚未实现多租户和真实权限</a:t>
            </a:r>
          </a:p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知识库规模较小</a:t>
            </a:r>
          </a:p>
          <a:p xmlns:a="http://schemas.openxmlformats.org/drawingml/2006/main">
            <a:pPr marL="203200" indent="-101600">
              <a:spcAft>
                <a:spcPts val="1300"/>
              </a:spcAft>
              <a:buChar char="•"/>
              <a:def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8FB"/>
                </a:solidFill>
                <a:latin typeface="Microsoft YaHei"/>
                <a:ea typeface="Microsoft YaHei"/>
                <a:cs typeface="Microsoft YaHei"/>
              </a:rPr>
              <a:t>公开部署需补充监控和密钥管理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585FF-8361-431E-BAC9-13D3F86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下一步：接入真实企业系统，加入人工知识审核和线上效果监控</a:t>
            </a:r>
          </a:p>
        </p:txBody>
      </p:sp>
    </p:spTree>
    <p:extLst>
      <p:ext uri="{BB962C8B-B14F-4D97-AF65-F5344CB8AC3E}">
        <p14:creationId xmlns:p14="http://schemas.microsoft.com/office/powerpoint/2010/main" val="558338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2026-09-21T10:07:32.4030000Z</dcterms:created>
  <dcterms:modified xsi:type="dcterms:W3CDTF">2026-09-21T10:07:32.4030000Z</dcterms:modified>
</coreProperties>
</file>